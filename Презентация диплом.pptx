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BA02E-E7D1-42AA-B717-2CC6FAB6C03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4DCE8-5482-441D-8AA3-C8373BC1E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111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4DCE8-5482-441D-8AA3-C8373BC1E68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987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53A31ED-D9B2-4823-8589-E0F06BB5BEF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F84C9DA-7084-40AC-B2D7-C644CFFF6F2A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116632"/>
            <a:ext cx="8229600" cy="1828800"/>
          </a:xfrm>
        </p:spPr>
        <p:txBody>
          <a:bodyPr>
            <a:noAutofit/>
          </a:bodyPr>
          <a:lstStyle/>
          <a:p>
            <a:r>
              <a:rPr lang="ru-RU" sz="2400" dirty="0"/>
              <a:t>МИНИСТЕРСТВО ОБРАЗОВАНИЯ САРАТОВСКОЙ ОБЛАСТИ</a:t>
            </a:r>
            <a:br>
              <a:rPr lang="ru-RU" sz="2400" dirty="0"/>
            </a:br>
            <a:r>
              <a:rPr lang="ru-RU" sz="2400" dirty="0"/>
              <a:t>ГАПОУ СО «</a:t>
            </a:r>
            <a:r>
              <a:rPr lang="ru-RU" sz="2400" dirty="0" err="1"/>
              <a:t>Вольский</a:t>
            </a:r>
            <a:r>
              <a:rPr lang="ru-RU" sz="2400" dirty="0"/>
              <a:t> технологический колледж»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2670178"/>
            <a:ext cx="6400800" cy="1752600"/>
          </a:xfrm>
        </p:spPr>
        <p:txBody>
          <a:bodyPr>
            <a:normAutofit/>
          </a:bodyPr>
          <a:lstStyle/>
          <a:p>
            <a:r>
              <a:rPr lang="ru-RU" sz="1800" dirty="0"/>
              <a:t>РАЗРАБОТКА АВТОМАТИЗИРОВАННОЙ ИНФОРМАЦИОННОЙ</a:t>
            </a:r>
          </a:p>
          <a:p>
            <a:r>
              <a:rPr lang="ru-RU" sz="1800" dirty="0"/>
              <a:t>СИСТЕМЫ УЧЕТА АВТОМОБИЛЕЙ НА АВТОСТОЯНКЕ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63" y="5013176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Выполнил: студент группы ИТС-41 Ковалев П.В.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876256" y="5013176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Руководитель: преподаватель </a:t>
            </a:r>
            <a:r>
              <a:rPr lang="ru-RU" dirty="0" err="1" smtClean="0"/>
              <a:t>Мифтахов</a:t>
            </a:r>
            <a:r>
              <a:rPr lang="ru-RU" dirty="0" smtClean="0"/>
              <a:t> Н.И.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491880" y="638132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Вольск, 2026 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790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effectLst/>
              </a:rPr>
              <a:t>Актуальность.</a:t>
            </a:r>
            <a:endParaRPr lang="ru-RU" i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007260"/>
              </p:ext>
            </p:extLst>
          </p:nvPr>
        </p:nvGraphicFramePr>
        <p:xfrm>
          <a:off x="467544" y="1772816"/>
          <a:ext cx="8424936" cy="255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496"/>
                <a:gridCol w="3960440"/>
              </a:tblGrid>
              <a:tr h="576064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Проблемы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Решения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❌</a:t>
                      </a:r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ru-RU" sz="2400" dirty="0" smtClean="0"/>
                        <a:t>Ошибки в расчетах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ru-RU" sz="2400" dirty="0" smtClean="0"/>
                        <a:t> Автоматический</a:t>
                      </a:r>
                      <a:r>
                        <a:rPr lang="ru-RU" sz="2400" baseline="0" dirty="0" smtClean="0"/>
                        <a:t> расчет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kumimoji="0" lang="ru-RU" sz="2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dirty="0" smtClean="0"/>
                        <a:t>Потеря данных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ru-RU" sz="200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ru-RU" sz="2400" dirty="0" smtClean="0"/>
                        <a:t>Централизованная БД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ru-RU" sz="2400" dirty="0" smtClean="0"/>
                        <a:t>Нет контроля загрузки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ru-RU" sz="2000" smtClean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ru-RU" sz="2400" smtClean="0"/>
                        <a:t>Мониторинг </a:t>
                      </a:r>
                      <a:r>
                        <a:rPr lang="ru-RU" sz="2400" dirty="0" smtClean="0"/>
                        <a:t>в реальном времени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84" y="4725144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АИС «</a:t>
            </a:r>
            <a:r>
              <a:rPr lang="en-US" sz="2400" dirty="0" err="1" smtClean="0"/>
              <a:t>AutoParkManager</a:t>
            </a:r>
            <a:r>
              <a:rPr lang="en-US" sz="2400" dirty="0" smtClean="0"/>
              <a:t>» — </a:t>
            </a:r>
            <a:r>
              <a:rPr lang="ru-RU" sz="2400" dirty="0" smtClean="0"/>
              <a:t>конкурентное преимущество</a:t>
            </a:r>
            <a:endParaRPr lang="ru-RU" sz="2400" dirty="0"/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581128"/>
            <a:ext cx="2160240" cy="216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667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effectLst/>
              </a:rPr>
              <a:t>Цель </a:t>
            </a:r>
            <a:r>
              <a:rPr lang="ru-RU" sz="3600" i="1" dirty="0">
                <a:effectLst/>
              </a:rPr>
              <a:t>и</a:t>
            </a:r>
            <a:r>
              <a:rPr lang="ru-RU" i="1" dirty="0">
                <a:effectLst/>
              </a:rPr>
              <a:t> задачи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003232" cy="4205064"/>
          </a:xfrm>
        </p:spPr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ru-RU" sz="3300" dirty="0"/>
              <a:t>ЦЕЛЬ:</a:t>
            </a:r>
          </a:p>
          <a:p>
            <a:pPr marL="137160" indent="0">
              <a:buNone/>
            </a:pPr>
            <a:r>
              <a:rPr lang="ru-RU" dirty="0" smtClean="0"/>
              <a:t>    Разработать </a:t>
            </a:r>
            <a:r>
              <a:rPr lang="ru-RU" dirty="0"/>
              <a:t>функциональную </a:t>
            </a:r>
            <a:r>
              <a:rPr lang="ru-RU" b="1" dirty="0"/>
              <a:t>АИС </a:t>
            </a:r>
            <a:r>
              <a:rPr lang="ru-RU" dirty="0"/>
              <a:t>для автоматизации</a:t>
            </a:r>
          </a:p>
          <a:p>
            <a:pPr marL="137160" indent="0">
              <a:buNone/>
            </a:pPr>
            <a:r>
              <a:rPr lang="ru-RU" dirty="0" smtClean="0"/>
              <a:t>    учета </a:t>
            </a:r>
            <a:r>
              <a:rPr lang="ru-RU" dirty="0"/>
              <a:t>автомобилей и расчета стоимости услуг</a:t>
            </a:r>
          </a:p>
          <a:p>
            <a:endParaRPr lang="ru-RU" dirty="0" smtClean="0"/>
          </a:p>
          <a:p>
            <a:endParaRPr lang="ru-RU" dirty="0"/>
          </a:p>
          <a:p>
            <a:pPr marL="137160" indent="0">
              <a:buNone/>
            </a:pPr>
            <a:r>
              <a:rPr lang="ru-RU" sz="3300" dirty="0"/>
              <a:t>ЗАДАЧИ:</a:t>
            </a:r>
          </a:p>
          <a:p>
            <a:pPr marL="137160" indent="0">
              <a:buNone/>
            </a:pPr>
            <a:r>
              <a:rPr lang="ru-RU" dirty="0" smtClean="0"/>
              <a:t>    1</a:t>
            </a:r>
            <a:r>
              <a:rPr lang="ru-RU" dirty="0"/>
              <a:t>. Провести анализ предметной области</a:t>
            </a:r>
          </a:p>
          <a:p>
            <a:pPr marL="137160" indent="0">
              <a:buNone/>
            </a:pPr>
            <a:r>
              <a:rPr lang="ru-RU" dirty="0" smtClean="0"/>
              <a:t>    2</a:t>
            </a:r>
            <a:r>
              <a:rPr lang="ru-RU" dirty="0"/>
              <a:t>. Определить функциональные требования</a:t>
            </a:r>
          </a:p>
          <a:p>
            <a:pPr marL="137160" indent="0">
              <a:buNone/>
            </a:pPr>
            <a:r>
              <a:rPr lang="ru-RU" dirty="0" smtClean="0"/>
              <a:t>    3</a:t>
            </a:r>
            <a:r>
              <a:rPr lang="ru-RU" dirty="0"/>
              <a:t>. Спроектировать архитектуру приложения</a:t>
            </a:r>
          </a:p>
          <a:p>
            <a:pPr marL="137160" indent="0">
              <a:buNone/>
            </a:pPr>
            <a:r>
              <a:rPr lang="ru-RU" dirty="0" smtClean="0"/>
              <a:t>    4</a:t>
            </a:r>
            <a:r>
              <a:rPr lang="ru-RU" dirty="0"/>
              <a:t>. Реализовать интерфейс и базу данных</a:t>
            </a:r>
          </a:p>
          <a:p>
            <a:pPr marL="137160" indent="0">
              <a:buNone/>
            </a:pPr>
            <a:r>
              <a:rPr lang="ru-RU" dirty="0" smtClean="0"/>
              <a:t>    5</a:t>
            </a:r>
            <a:r>
              <a:rPr lang="ru-RU" dirty="0"/>
              <a:t>. Провести тестирование системы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683568" y="3068960"/>
            <a:ext cx="77768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043" y="116632"/>
            <a:ext cx="158417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17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i="1" dirty="0">
                <a:effectLst/>
              </a:rPr>
              <a:t>Объект и предмет исследования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844824"/>
            <a:ext cx="8229600" cy="3744416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ru-RU" dirty="0"/>
              <a:t>Объект исследования:</a:t>
            </a:r>
          </a:p>
          <a:p>
            <a:pPr marL="137160" indent="0">
              <a:buNone/>
            </a:pPr>
            <a:r>
              <a:rPr lang="ru-RU" sz="2400" dirty="0" smtClean="0"/>
              <a:t>    процессы </a:t>
            </a:r>
            <a:r>
              <a:rPr lang="ru-RU" sz="2400" dirty="0"/>
              <a:t>проектирования и разработки</a:t>
            </a:r>
          </a:p>
          <a:p>
            <a:pPr marL="137160" indent="0">
              <a:buNone/>
            </a:pPr>
            <a:r>
              <a:rPr lang="ru-RU" sz="2400" dirty="0" smtClean="0"/>
              <a:t>    информационных </a:t>
            </a:r>
            <a:r>
              <a:rPr lang="ru-RU" sz="2400" dirty="0"/>
              <a:t>систем</a:t>
            </a:r>
          </a:p>
          <a:p>
            <a:endParaRPr lang="ru-RU" sz="2400" dirty="0"/>
          </a:p>
          <a:p>
            <a:pPr marL="137160" indent="0">
              <a:buNone/>
            </a:pPr>
            <a:r>
              <a:rPr lang="ru-RU" dirty="0" smtClean="0"/>
              <a:t>Предмет исследования:</a:t>
            </a:r>
            <a:endParaRPr lang="ru-RU" dirty="0"/>
          </a:p>
          <a:p>
            <a:pPr marL="137160" indent="0">
              <a:buNone/>
            </a:pPr>
            <a:r>
              <a:rPr lang="ru-RU" sz="2400" dirty="0" smtClean="0"/>
              <a:t>    разработка </a:t>
            </a:r>
            <a:r>
              <a:rPr lang="ru-RU" sz="2400" dirty="0"/>
              <a:t>автоматизированной информационной</a:t>
            </a:r>
          </a:p>
          <a:p>
            <a:pPr marL="137160" indent="0">
              <a:buNone/>
            </a:pPr>
            <a:r>
              <a:rPr lang="ru-RU" sz="2400" dirty="0" smtClean="0"/>
              <a:t>    системы </a:t>
            </a:r>
            <a:r>
              <a:rPr lang="ru-RU" sz="2400" dirty="0"/>
              <a:t>учета автомобилей на автостоянке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611560" y="3429000"/>
            <a:ext cx="74888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348" y="5701550"/>
            <a:ext cx="2664296" cy="1120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5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570186"/>
          </a:xfrm>
        </p:spPr>
        <p:txBody>
          <a:bodyPr>
            <a:normAutofit fontScale="90000"/>
          </a:bodyPr>
          <a:lstStyle/>
          <a:p>
            <a:r>
              <a:rPr lang="ru-RU" i="1" dirty="0">
                <a:effectLst/>
              </a:rPr>
              <a:t>ОБЗОР </a:t>
            </a:r>
            <a:r>
              <a:rPr lang="ru-RU" i="1" dirty="0" smtClean="0">
                <a:effectLst/>
              </a:rPr>
              <a:t>СУЩЕСТВУЮЩИХ </a:t>
            </a:r>
            <a:r>
              <a:rPr lang="ru-RU" i="1" dirty="0">
                <a:effectLst/>
              </a:rPr>
              <a:t>РЕШЕНИЙ</a:t>
            </a:r>
            <a:r>
              <a:rPr lang="ru-RU" dirty="0">
                <a:effectLst/>
              </a:rPr>
              <a:t/>
            </a:r>
            <a:br>
              <a:rPr lang="ru-RU" dirty="0">
                <a:effectLst/>
              </a:rPr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442759"/>
              </p:ext>
            </p:extLst>
          </p:nvPr>
        </p:nvGraphicFramePr>
        <p:xfrm>
          <a:off x="467544" y="1916832"/>
          <a:ext cx="8229600" cy="3122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68"/>
                <a:gridCol w="3459832"/>
                <a:gridCol w="27432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Система</a:t>
                      </a:r>
                    </a:p>
                  </a:txBody>
                  <a:tcPr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Преимущества</a:t>
                      </a:r>
                    </a:p>
                  </a:txBody>
                  <a:tcPr marL="121920"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Недостатки</a:t>
                      </a:r>
                    </a:p>
                  </a:txBody>
                  <a:tcPr marL="121920"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</a:tr>
              <a:tr h="725408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Паркнет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Много функций, интеграция</a:t>
                      </a:r>
                    </a:p>
                  </a:txBody>
                  <a:tcPr marL="121920"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Дорого, сложно</a:t>
                      </a:r>
                    </a:p>
                  </a:txBody>
                  <a:tcPr marL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</a:tr>
              <a:tr h="730736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ParkMaster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Надёжность, гибкость</a:t>
                      </a:r>
                    </a:p>
                  </a:txBody>
                  <a:tcPr marL="121920"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Требует оборудования</a:t>
                      </a:r>
                    </a:p>
                  </a:txBody>
                  <a:tcPr marL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</a:tr>
              <a:tr h="124012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Excel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Бесплатно, просто</a:t>
                      </a:r>
                    </a:p>
                  </a:txBody>
                  <a:tcPr marL="121920" marR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Ошибки, потеря данных</a:t>
                      </a:r>
                    </a:p>
                  </a:txBody>
                  <a:tcPr marL="121920" marT="76200" marB="76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3528" y="5373216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Оптимальный вариант — разработка собственного приложения</a:t>
            </a:r>
            <a:endParaRPr lang="ru-RU" dirty="0"/>
          </a:p>
        </p:txBody>
      </p:sp>
      <p:pic>
        <p:nvPicPr>
          <p:cNvPr id="6152" name="Picture 8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965250"/>
            <a:ext cx="1823728" cy="183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65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i="1" dirty="0">
                <a:effectLst/>
              </a:rPr>
              <a:t>ФУНКЦИОНАЛЬНЫЕ ТРЕБОВАНИЯ</a:t>
            </a:r>
            <a:r>
              <a:rPr lang="ru-RU" dirty="0">
                <a:effectLst/>
              </a:rPr>
              <a:t/>
            </a:r>
            <a:br>
              <a:rPr lang="ru-RU" dirty="0">
                <a:effectLst/>
              </a:rPr>
            </a:b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280286"/>
              </p:ext>
            </p:extLst>
          </p:nvPr>
        </p:nvGraphicFramePr>
        <p:xfrm>
          <a:off x="755576" y="1196752"/>
          <a:ext cx="8064896" cy="4680520"/>
        </p:xfrm>
        <a:graphic>
          <a:graphicData uri="http://schemas.openxmlformats.org/drawingml/2006/table">
            <a:tbl>
              <a:tblPr/>
              <a:tblGrid>
                <a:gridCol w="4032448"/>
                <a:gridCol w="4032448"/>
              </a:tblGrid>
              <a:tr h="555577">
                <a:tc>
                  <a:txBody>
                    <a:bodyPr/>
                    <a:lstStyle/>
                    <a:p>
                      <a:pPr algn="l"/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273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Управление въездом/выездом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Мониторинг загрузки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273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Расчет стоимости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Формирование отчетов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273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Прием оплаты + чек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Разграничение прав (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Admin/Operator)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273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Управление клиентами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401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Управление абонементами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7192" name="Picture 2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965914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92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i="1" dirty="0">
                <a:effectLst/>
              </a:rPr>
              <a:t>НЕФУНКЦИОНАЛЬНЫЕ ТРЕБОВАНИЯ</a:t>
            </a:r>
            <a:r>
              <a:rPr lang="ru-RU" dirty="0">
                <a:effectLst/>
              </a:rPr>
              <a:t/>
            </a:r>
            <a:br>
              <a:rPr lang="ru-RU" dirty="0">
                <a:effectLst/>
              </a:rPr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53680"/>
              </p:ext>
            </p:extLst>
          </p:nvPr>
        </p:nvGraphicFramePr>
        <p:xfrm>
          <a:off x="971600" y="1772816"/>
          <a:ext cx="7344816" cy="4248470"/>
        </p:xfrm>
        <a:graphic>
          <a:graphicData uri="http://schemas.openxmlformats.org/drawingml/2006/table">
            <a:tbl>
              <a:tblPr/>
              <a:tblGrid>
                <a:gridCol w="3848168"/>
                <a:gridCol w="3496648"/>
              </a:tblGrid>
              <a:tr h="495655">
                <a:tc>
                  <a:txBody>
                    <a:bodyPr/>
                    <a:lstStyle/>
                    <a:p>
                      <a:pPr algn="l"/>
                      <a:r>
                        <a:rPr lang="ru-RU" sz="2000" b="0" dirty="0">
                          <a:effectLst/>
                          <a:latin typeface="quote-cjk-patch"/>
                        </a:rPr>
                        <a:t>Требование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Значение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5655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Производительность</a:t>
                      </a:r>
                      <a:endParaRPr lang="ru-RU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Отклик &lt; 1 сек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429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Надёжность</a:t>
                      </a:r>
                      <a:endParaRPr lang="ru-RU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Работа без сбоев в смену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429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Безопасность</a:t>
                      </a:r>
                      <a:endParaRPr lang="ru-RU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Авторизация</a:t>
                      </a:r>
                      <a:endParaRPr lang="en-US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4290"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Удобство использования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Крупные кнопки, минимум ввода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4290"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Масштабируемость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Возможность добавления функций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5589240"/>
            <a:ext cx="1440160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6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i="1" dirty="0">
                <a:effectLst/>
              </a:rPr>
              <a:t>МЕТОДОЛОГИЯ </a:t>
            </a:r>
            <a:r>
              <a:rPr lang="ru-RU" sz="3600" i="1" dirty="0" smtClean="0">
                <a:effectLst/>
              </a:rPr>
              <a:t>РАЗРАБОТКИ</a:t>
            </a:r>
            <a:endParaRPr lang="ru-RU" sz="3600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ru-RU" dirty="0"/>
              <a:t>Рассмотренные методологии:</a:t>
            </a:r>
          </a:p>
          <a:p>
            <a:pPr marL="137160" indent="0">
              <a:buNone/>
            </a:pPr>
            <a:r>
              <a:rPr lang="ru-RU" dirty="0" smtClean="0"/>
              <a:t>    </a:t>
            </a:r>
            <a:r>
              <a:rPr lang="ru-RU" sz="2400" dirty="0" smtClean="0"/>
              <a:t>• </a:t>
            </a:r>
            <a:r>
              <a:rPr lang="ru-RU" sz="2400" dirty="0"/>
              <a:t>Каскадная (</a:t>
            </a:r>
            <a:r>
              <a:rPr lang="ru-RU" sz="2400" dirty="0" err="1"/>
              <a:t>Waterfall</a:t>
            </a:r>
            <a:r>
              <a:rPr lang="ru-RU" sz="2400" dirty="0"/>
              <a:t>)</a:t>
            </a:r>
          </a:p>
          <a:p>
            <a:pPr marL="137160" indent="0">
              <a:buNone/>
            </a:pPr>
            <a:r>
              <a:rPr lang="ru-RU" sz="2400" dirty="0" smtClean="0"/>
              <a:t>    • </a:t>
            </a:r>
            <a:r>
              <a:rPr lang="ru-RU" sz="2400" dirty="0"/>
              <a:t>Гибкая (</a:t>
            </a:r>
            <a:r>
              <a:rPr lang="ru-RU" sz="2400" dirty="0" err="1"/>
              <a:t>Agile</a:t>
            </a:r>
            <a:r>
              <a:rPr lang="ru-RU" sz="2400" dirty="0"/>
              <a:t>)</a:t>
            </a:r>
          </a:p>
          <a:p>
            <a:pPr marL="137160" indent="0">
              <a:buNone/>
            </a:pPr>
            <a:r>
              <a:rPr lang="ru-RU" sz="2400" dirty="0" smtClean="0"/>
              <a:t>    • </a:t>
            </a:r>
            <a:r>
              <a:rPr lang="ru-RU" sz="2400" dirty="0"/>
              <a:t>Спиральная</a:t>
            </a:r>
          </a:p>
          <a:p>
            <a:pPr marL="137160" indent="0">
              <a:buNone/>
            </a:pPr>
            <a:r>
              <a:rPr lang="ru-RU" sz="2400" dirty="0" smtClean="0"/>
              <a:t>    • </a:t>
            </a:r>
            <a:r>
              <a:rPr lang="ru-RU" sz="2400" dirty="0"/>
              <a:t>RAD</a:t>
            </a:r>
          </a:p>
          <a:p>
            <a:endParaRPr lang="ru-RU" dirty="0"/>
          </a:p>
          <a:p>
            <a:pPr marL="137160" indent="0">
              <a:buNone/>
            </a:pPr>
            <a:r>
              <a:rPr lang="ru-RU" dirty="0"/>
              <a:t>ВЫБРАНО: </a:t>
            </a:r>
            <a:r>
              <a:rPr lang="ru-RU" sz="2400" dirty="0"/>
              <a:t>гибкий итеративный подход</a:t>
            </a:r>
          </a:p>
          <a:p>
            <a:pPr marL="137160" indent="0">
              <a:buNone/>
            </a:pPr>
            <a:r>
              <a:rPr lang="ru-RU" sz="2400" dirty="0" smtClean="0"/>
              <a:t>    с </a:t>
            </a:r>
            <a:r>
              <a:rPr lang="ru-RU" sz="2400" dirty="0"/>
              <a:t>элементами каскадной модели</a:t>
            </a:r>
          </a:p>
          <a:p>
            <a:endParaRPr lang="ru-RU" dirty="0" smtClean="0"/>
          </a:p>
          <a:p>
            <a:pPr marL="137160" indent="0">
              <a:buNone/>
            </a:pPr>
            <a:r>
              <a:rPr lang="ru-RU" dirty="0" smtClean="0"/>
              <a:t> ПРИЧИНЫ</a:t>
            </a:r>
            <a:r>
              <a:rPr lang="ru-RU" dirty="0"/>
              <a:t>:</a:t>
            </a:r>
          </a:p>
          <a:p>
            <a:pPr marL="137160" indent="0">
              <a:buNone/>
            </a:pPr>
            <a:r>
              <a:rPr lang="ru-RU" dirty="0" smtClean="0"/>
              <a:t>    </a:t>
            </a:r>
            <a:r>
              <a:rPr lang="ru-RU" sz="2400" dirty="0" smtClean="0">
                <a:solidFill>
                  <a:srgbClr val="00B050"/>
                </a:solidFill>
              </a:rPr>
              <a:t>✓</a:t>
            </a:r>
            <a:r>
              <a:rPr lang="ru-RU" sz="2400" dirty="0" smtClean="0"/>
              <a:t> </a:t>
            </a:r>
            <a:r>
              <a:rPr lang="ru-RU" sz="2400" dirty="0"/>
              <a:t>Чётко определённые </a:t>
            </a:r>
            <a:r>
              <a:rPr lang="ru-RU" sz="2400" dirty="0" smtClean="0"/>
              <a:t>требования</a:t>
            </a:r>
          </a:p>
          <a:p>
            <a:pPr marL="137160" indent="0">
              <a:buNone/>
            </a:pPr>
            <a:r>
              <a:rPr lang="ru-RU" sz="2400" dirty="0" smtClean="0"/>
              <a:t>    </a:t>
            </a:r>
            <a:r>
              <a:rPr lang="ru-RU" sz="2400" dirty="0" smtClean="0">
                <a:solidFill>
                  <a:srgbClr val="00B050"/>
                </a:solidFill>
              </a:rPr>
              <a:t>✓</a:t>
            </a:r>
            <a:r>
              <a:rPr lang="ru-RU" sz="2400" dirty="0" smtClean="0"/>
              <a:t> Возможность внесения корректировок</a:t>
            </a:r>
          </a:p>
          <a:p>
            <a:pPr marL="137160" indent="0">
              <a:buNone/>
            </a:pPr>
            <a:r>
              <a:rPr lang="ru-RU" sz="2400" dirty="0" smtClean="0"/>
              <a:t>    </a:t>
            </a:r>
            <a:r>
              <a:rPr lang="ru-RU" sz="2400" dirty="0" smtClean="0">
                <a:solidFill>
                  <a:srgbClr val="00B050"/>
                </a:solidFill>
              </a:rPr>
              <a:t>✓</a:t>
            </a:r>
            <a:r>
              <a:rPr lang="ru-RU" sz="2400" dirty="0" smtClean="0"/>
              <a:t> </a:t>
            </a:r>
            <a:r>
              <a:rPr lang="ru-RU" sz="2400" dirty="0"/>
              <a:t>Ограниченные ресурсы</a:t>
            </a:r>
          </a:p>
        </p:txBody>
      </p:sp>
      <p:pic>
        <p:nvPicPr>
          <p:cNvPr id="9218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897" y="1916832"/>
            <a:ext cx="3456383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60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Архитектура приложения</a:t>
            </a:r>
            <a:endParaRPr lang="ru-RU" i="1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7" y="1268760"/>
            <a:ext cx="9037439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74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1" dirty="0">
                <a:effectLst/>
              </a:rPr>
              <a:t>IDEF0 – Контекстная диаграмма (</a:t>
            </a:r>
            <a:r>
              <a:rPr lang="ru-RU" b="0" i="1" dirty="0" smtClean="0">
                <a:effectLst/>
              </a:rPr>
              <a:t>А-0)</a:t>
            </a:r>
            <a:endParaRPr lang="ru-RU" i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1628800"/>
            <a:ext cx="8280920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4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>
                <a:effectLst/>
              </a:rPr>
              <a:t>IDEF0 – </a:t>
            </a:r>
            <a:r>
              <a:rPr lang="ru-RU" b="0" i="1" dirty="0">
                <a:effectLst/>
              </a:rPr>
              <a:t>Декомпозиция (А0)</a:t>
            </a:r>
            <a:endParaRPr lang="ru-RU" i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1600200"/>
            <a:ext cx="8928992" cy="51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5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1" dirty="0">
                <a:effectLst/>
              </a:rPr>
              <a:t>Диаграмма потоков данных </a:t>
            </a:r>
            <a:r>
              <a:rPr lang="en-US" b="0" i="1" dirty="0">
                <a:effectLst/>
              </a:rPr>
              <a:t>DFD</a:t>
            </a:r>
            <a:endParaRPr lang="ru-RU" i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1600200"/>
            <a:ext cx="8928992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2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1" dirty="0">
                <a:effectLst/>
              </a:rPr>
              <a:t>Диаграмма вариантов использования</a:t>
            </a:r>
            <a:endParaRPr lang="ru-RU" i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1412776"/>
            <a:ext cx="4104456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3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Диаграмма классов</a:t>
            </a:r>
            <a:endParaRPr lang="ru-RU" i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412776"/>
            <a:ext cx="6408712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8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i="1" dirty="0">
                <a:effectLst/>
              </a:rPr>
              <a:t>СОСТОЯНИЙ И </a:t>
            </a:r>
            <a:r>
              <a:rPr lang="ru-RU" i="1" dirty="0" smtClean="0">
                <a:effectLst/>
              </a:rPr>
              <a:t>ДЕЯТЕЛЬНОСТИ</a:t>
            </a:r>
            <a:endParaRPr lang="ru-RU" i="1" dirty="0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340768"/>
            <a:ext cx="3528392" cy="54006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1484784"/>
            <a:ext cx="4176464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1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1" dirty="0">
                <a:effectLst/>
              </a:rPr>
              <a:t>Диаграмма последовательности</a:t>
            </a:r>
            <a:endParaRPr lang="ru-RU" i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412776"/>
            <a:ext cx="7416824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3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База данных – модели</a:t>
            </a:r>
            <a:endParaRPr lang="ru-RU" i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84784"/>
            <a:ext cx="2699792" cy="3456384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771800" y="1468354"/>
            <a:ext cx="2664296" cy="3760846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5508104" y="1700808"/>
            <a:ext cx="346713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8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1" dirty="0">
                <a:effectLst/>
              </a:rPr>
              <a:t>Пользовательский интерфейс – Главное окно</a:t>
            </a:r>
            <a:endParaRPr lang="ru-RU" b="0" i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484784"/>
            <a:ext cx="8208912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Окно регистрации въезда</a:t>
            </a:r>
            <a:endParaRPr lang="ru-RU" b="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1709" y="1600200"/>
            <a:ext cx="4940582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6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1" dirty="0">
                <a:effectLst/>
              </a:rPr>
              <a:t>Окно регистрации выезда и оплаты</a:t>
            </a:r>
            <a:endParaRPr lang="ru-RU" b="0" i="1" dirty="0"/>
          </a:p>
        </p:txBody>
      </p:sp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988" y="1600200"/>
            <a:ext cx="4626023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4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Окно управления клиентами</a:t>
            </a:r>
            <a:endParaRPr lang="ru-RU" b="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1600200"/>
            <a:ext cx="7488831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Окно формирования отчётов</a:t>
            </a:r>
            <a:endParaRPr lang="ru-RU" b="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7" y="1600200"/>
            <a:ext cx="6624736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Окно авторизации</a:t>
            </a:r>
            <a:endParaRPr lang="ru-RU" b="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967" y="1600200"/>
            <a:ext cx="5702066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6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1" dirty="0" smtClean="0">
                <a:effectLst/>
              </a:rPr>
              <a:t>ТЕСТИРОВАНИЕ</a:t>
            </a:r>
            <a:endParaRPr lang="ru-RU" b="0" i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524098"/>
              </p:ext>
            </p:extLst>
          </p:nvPr>
        </p:nvGraphicFramePr>
        <p:xfrm>
          <a:off x="971600" y="1412776"/>
          <a:ext cx="6984777" cy="3816425"/>
        </p:xfrm>
        <a:graphic>
          <a:graphicData uri="http://schemas.openxmlformats.org/drawingml/2006/table">
            <a:tbl>
              <a:tblPr/>
              <a:tblGrid>
                <a:gridCol w="2592288"/>
                <a:gridCol w="2064230"/>
                <a:gridCol w="2328259"/>
              </a:tblGrid>
              <a:tr h="869087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Вид тестирования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Результат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Покрытие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09164"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Функциональное (чёрный ящик)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 23/23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100%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9087"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Функциональное (белый ящик)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 9/9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100%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9087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Нефункциональное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7/7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100%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5445224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/>
              <a:t>Покрытие требований: 100%</a:t>
            </a:r>
            <a:endParaRPr lang="ru-RU" i="1" dirty="0"/>
          </a:p>
        </p:txBody>
      </p:sp>
      <p:pic>
        <p:nvPicPr>
          <p:cNvPr id="1126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494445"/>
            <a:ext cx="2270889" cy="227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06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ОХРАНА ТРУДА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876536"/>
              </p:ext>
            </p:extLst>
          </p:nvPr>
        </p:nvGraphicFramePr>
        <p:xfrm>
          <a:off x="683568" y="1412776"/>
          <a:ext cx="7632848" cy="4255666"/>
        </p:xfrm>
        <a:graphic>
          <a:graphicData uri="http://schemas.openxmlformats.org/drawingml/2006/table">
            <a:tbl>
              <a:tblPr/>
              <a:tblGrid>
                <a:gridCol w="3816424"/>
                <a:gridCol w="3816424"/>
              </a:tblGrid>
              <a:tr h="496495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Фактор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Требование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6495"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Освещение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300–500 люкс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5669"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Монитор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50–70 см, на уровне глаз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5669"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Кресло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Регулируемое, поддержка поясницы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5669"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Режим труда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Перерыв 5–10 мин / 45–60 мин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5669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Электробезопасность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Заземление, целые кабели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2290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55780"/>
            <a:ext cx="2180929" cy="2180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42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ЗАКЛЮЧЕНИЕ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614483"/>
              </p:ext>
            </p:extLst>
          </p:nvPr>
        </p:nvGraphicFramePr>
        <p:xfrm>
          <a:off x="971601" y="1772816"/>
          <a:ext cx="7272807" cy="3456384"/>
        </p:xfrm>
        <a:graphic>
          <a:graphicData uri="http://schemas.openxmlformats.org/drawingml/2006/table">
            <a:tbl>
              <a:tblPr/>
              <a:tblGrid>
                <a:gridCol w="2424269"/>
                <a:gridCol w="2424269"/>
                <a:gridCol w="2424269"/>
              </a:tblGrid>
              <a:tr h="653911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Показатель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Ручной учёт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АИС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074281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Время регистрации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1–2 мин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10–20 сек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3911">
                <a:tc>
                  <a:txBody>
                    <a:bodyPr/>
                    <a:lstStyle/>
                    <a:p>
                      <a:r>
                        <a:rPr lang="ru-RU" b="0" smtClean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Отчёт за месяц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smtClean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Часы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&lt; 10 сек</a:t>
                      </a:r>
                      <a:endParaRPr lang="ru-RU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074281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Контроль загрузки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 реальном времени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7118" y="5687413"/>
            <a:ext cx="8136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B050"/>
                </a:solidFill>
              </a:rPr>
              <a:t>АИС «</a:t>
            </a:r>
            <a:r>
              <a:rPr lang="ru-RU" sz="2800" b="1" dirty="0" err="1">
                <a:solidFill>
                  <a:srgbClr val="00B050"/>
                </a:solidFill>
              </a:rPr>
              <a:t>AutoParkManager</a:t>
            </a:r>
            <a:r>
              <a:rPr lang="ru-RU" sz="2800" b="1" dirty="0">
                <a:solidFill>
                  <a:srgbClr val="00B050"/>
                </a:solidFill>
              </a:rPr>
              <a:t>» готова к внедрению!</a:t>
            </a:r>
            <a:endParaRPr lang="ru-RU" sz="2800" dirty="0">
              <a:solidFill>
                <a:srgbClr val="00B050"/>
              </a:solidFill>
            </a:endParaRPr>
          </a:p>
        </p:txBody>
      </p:sp>
      <p:pic>
        <p:nvPicPr>
          <p:cNvPr id="1331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899" y="116632"/>
            <a:ext cx="2371123" cy="233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67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 algn="ctr">
              <a:buNone/>
            </a:pPr>
            <a:r>
              <a:rPr lang="ru-RU" sz="4000" dirty="0"/>
              <a:t>Спасибо за внимание! </a:t>
            </a:r>
            <a:endParaRPr lang="ru-RU" sz="4000" dirty="0" smtClean="0"/>
          </a:p>
          <a:p>
            <a:pPr algn="ctr"/>
            <a:endParaRPr lang="ru-RU" dirty="0"/>
          </a:p>
          <a:p>
            <a:pPr algn="ctr"/>
            <a:endParaRPr lang="ru-RU" dirty="0" smtClean="0"/>
          </a:p>
          <a:p>
            <a:pPr algn="ctr"/>
            <a:endParaRPr lang="ru-RU" dirty="0" smtClean="0"/>
          </a:p>
          <a:p>
            <a:pPr marL="137160" indent="0" algn="ctr">
              <a:buNone/>
            </a:pPr>
            <a:r>
              <a:rPr lang="ru-RU" sz="2400" dirty="0" smtClean="0"/>
              <a:t>АИС </a:t>
            </a:r>
            <a:r>
              <a:rPr lang="ru-RU" sz="2400" dirty="0"/>
              <a:t>«</a:t>
            </a:r>
            <a:r>
              <a:rPr lang="ru-RU" sz="2400" dirty="0" err="1"/>
              <a:t>AutoParkManager</a:t>
            </a:r>
            <a:r>
              <a:rPr lang="ru-RU" sz="2400" dirty="0"/>
              <a:t>» готова к внедрению </a:t>
            </a:r>
            <a:endParaRPr lang="ru-RU" sz="2400" dirty="0" smtClean="0"/>
          </a:p>
          <a:p>
            <a:pPr algn="ctr"/>
            <a:endParaRPr lang="ru-RU" sz="2400" dirty="0"/>
          </a:p>
          <a:p>
            <a:pPr algn="ctr"/>
            <a:endParaRPr lang="ru-RU" sz="2400" dirty="0" smtClean="0"/>
          </a:p>
          <a:p>
            <a:pPr algn="ctr"/>
            <a:endParaRPr lang="ru-RU" sz="2400" dirty="0"/>
          </a:p>
          <a:p>
            <a:pPr marL="137160" indent="0" algn="ctr">
              <a:buNone/>
            </a:pPr>
            <a:r>
              <a:rPr lang="ru-RU" sz="2400" dirty="0" smtClean="0"/>
              <a:t>Ответы </a:t>
            </a:r>
            <a:r>
              <a:rPr lang="ru-RU" sz="2400" dirty="0"/>
              <a:t>на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254404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100</TotalTime>
  <Words>454</Words>
  <Application>Microsoft Office PowerPoint</Application>
  <PresentationFormat>Экран (4:3)</PresentationFormat>
  <Paragraphs>152</Paragraphs>
  <Slides>27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Апекс</vt:lpstr>
      <vt:lpstr>МИНИСТЕРСТВО ОБРАЗОВАНИЯ САРАТОВСКОЙ ОБЛАСТИ ГАПОУ СО «Вольский технологический колледж»</vt:lpstr>
      <vt:lpstr>Актуальность.</vt:lpstr>
      <vt:lpstr>Цель и задачи</vt:lpstr>
      <vt:lpstr>Объект и предмет исследования</vt:lpstr>
      <vt:lpstr>ОБЗОР СУЩЕСТВУЮЩИХ РЕШЕНИЙ </vt:lpstr>
      <vt:lpstr>ФУНКЦИОНАЛЬНЫЕ ТРЕБОВАНИЯ </vt:lpstr>
      <vt:lpstr>НЕФУНКЦИОНАЛЬНЫЕ ТРЕБОВАНИЯ </vt:lpstr>
      <vt:lpstr>МЕТОДОЛОГИЯ РАЗРАБОТКИ</vt:lpstr>
      <vt:lpstr>Архитектура приложения</vt:lpstr>
      <vt:lpstr>IDEF0 – Контекстная диаграмма (А-0)</vt:lpstr>
      <vt:lpstr>IDEF0 – Декомпозиция (А0)</vt:lpstr>
      <vt:lpstr>Диаграмма потоков данных DFD</vt:lpstr>
      <vt:lpstr>Диаграмма вариантов использования</vt:lpstr>
      <vt:lpstr>Диаграмма классов</vt:lpstr>
      <vt:lpstr>СОСТОЯНИЙ И ДЕЯТЕЛЬНОСТИ</vt:lpstr>
      <vt:lpstr>Диаграмма последовательности</vt:lpstr>
      <vt:lpstr>База данных – модели</vt:lpstr>
      <vt:lpstr>Пользовательский интерфейс – Главное окно</vt:lpstr>
      <vt:lpstr>Окно регистрации въезда</vt:lpstr>
      <vt:lpstr>Окно регистрации выезда и оплаты</vt:lpstr>
      <vt:lpstr>Окно управления клиентами</vt:lpstr>
      <vt:lpstr>Окно формирования отчётов</vt:lpstr>
      <vt:lpstr>Окно авторизации</vt:lpstr>
      <vt:lpstr>ТЕСТИРОВАНИЕ</vt:lpstr>
      <vt:lpstr>ОХРАНА ТРУДА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САРАТОВСКОЙ ОБЛАСТИ ГАПОУ СО «Вольский технологический колледж»</dc:title>
  <dc:creator>User</dc:creator>
  <cp:lastModifiedBy>User</cp:lastModifiedBy>
  <cp:revision>10</cp:revision>
  <dcterms:created xsi:type="dcterms:W3CDTF">2026-05-20T15:42:34Z</dcterms:created>
  <dcterms:modified xsi:type="dcterms:W3CDTF">2026-05-20T17:23:26Z</dcterms:modified>
</cp:coreProperties>
</file>